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1" name="CardBorder"/>
          <p:cNvSpPr/>
          <p:nvPr/>
        </p:nvSpPr>
        <p:spPr>
          <a:xfrm>
            <a:off x="914400" y="700000"/>
            <a:ext cx="10363200" cy="5458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2" name="Badge"/>
          <p:cNvSpPr/>
          <p:nvPr/>
        </p:nvSpPr>
        <p:spPr>
          <a:xfrm>
            <a:off x="1371600" y="1100000"/>
            <a:ext cx="4200000" cy="420000"/>
          </a:xfrm>
          <a:prstGeom prst="roundRect">
            <a:avLst/>
          </a:prstGeom>
          <a:solidFill>
            <a:srgbClr val="1E293B"/>
          </a:solidFill>
          <a:ln w="15000">
            <a:solidFill>
              <a:srgbClr val="6366F1"/>
            </a:solidFill>
          </a:ln>
        </p:spPr>
        <p:txBody>
          <a:bodyPr vert="horz" lIns="144000" tIns="108000" rIns="144000" bIns="108000" rtlCol="0" anchor="t"/>
          <a:lstStyle/>
          <a:p>
            <a:pPr algn="ctr">
              <a:buNone/>
            </a:pPr>
            <a:r>
              <a:rPr lang="en-US" sz="1100" b="1">
                <a:solidFill>
                  <a:srgbClr val="38BDF8"/>
                </a:solidFill>
                <a:latin typeface="Helvetica Neue"/>
              </a:rPr>
              <a:t>⚡ DECENTRALIZED WEB3 FINANCIAL dAPP</a:t>
            </a:r>
          </a:p>
        </p:txBody>
      </p:sp>
      <p:sp>
        <p:nvSpPr>
          <p:cNvPr id="13" name="Title"/>
          <p:cNvSpPr/>
          <p:nvPr/>
        </p:nvSpPr>
        <p:spPr>
          <a:xfrm>
            <a:off x="1371600" y="1750000"/>
            <a:ext cx="9400000" cy="15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Helvetica Neue"/>
              </a:rPr>
              <a:t>FairShare — Product Walkthrough</a:t>
            </a:r>
          </a:p>
          <a:p>
            <a:pPr algn="l">
              <a:buNone/>
            </a:pPr>
            <a:r>
              <a:rPr lang="en-US" sz="2100">
                <a:solidFill>
                  <a:srgbClr val="94A3B8"/>
                </a:solidFill>
                <a:latin typeface="Helvetica Neue"/>
              </a:rPr>
              <a:t>Frontend UI Guide, Feature Mechanics &amp; Real-World Use Cases</a:t>
            </a:r>
          </a:p>
        </p:txBody>
      </p:sp>
      <p:sp>
        <p:nvSpPr>
          <p:cNvPr id="14" name="Description"/>
          <p:cNvSpPr/>
          <p:nvPr/>
        </p:nvSpPr>
        <p:spPr>
          <a:xfrm>
            <a:off x="1371600" y="3450000"/>
            <a:ext cx="9400000" cy="11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400">
                <a:solidFill>
                  <a:srgbClr val="CBD5E1"/>
                </a:solidFill>
                <a:latin typeface="Helvetica Neue"/>
              </a:rPr>
              <a:t>A complete visual and architectural tour: from interactive UI screens and consensus voting to client-side SHA-256 invoice hashing, Min-Cash-Flow graph debt resolution, and zero-trust audit trails.</a:t>
            </a:r>
          </a:p>
        </p:txBody>
      </p:sp>
      <p:sp>
        <p:nvSpPr>
          <p:cNvPr id="15" name="Pills"/>
          <p:cNvSpPr/>
          <p:nvPr/>
        </p:nvSpPr>
        <p:spPr>
          <a:xfrm>
            <a:off x="1371600" y="4800000"/>
            <a:ext cx="940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pPr algn="ctr">
              <a:buNone/>
            </a:pPr>
            <a:r>
              <a:rPr lang="en-US" sz="1200" b="1">
                <a:solidFill>
                  <a:srgbClr val="34D399"/>
                </a:solidFill>
                <a:latin typeface="Helvetica Neue"/>
              </a:rPr>
              <a:t>7 Integrated Tabs  •  25 UI Components  •  Solidity 0.8.20  •  React 19  •  Ethers.js v6  •  Min-Cash-Flow  •  WebSocket Sync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2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Real-World Problem &amp; Practical Use Cases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Why decentralized expense tracking solves real-world human trust dilemmas</a:t>
            </a:r>
          </a:p>
        </p:txBody>
      </p:sp>
      <p:sp>
        <p:nvSpPr>
          <p:cNvPr id="22" name="LeftCard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EF4444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23" name="LeftTex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F87171"/>
                </a:solidFill>
                <a:latin typeface="Helvetica Neue"/>
              </a:rPr>
              <a:t>Why Traditional Split Apps Fail in Reality</a:t>
            </a:r>
          </a:p>
          <a:p>
            <a:pPr algn="l">
              <a:buNone/>
            </a:pPr>
            <a:r>
              <a:rPr lang="en-US" sz="4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Unilateral Entry: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 roommate logs a ₹4,000 grocery bill; everyone is charged before anyone inspects the bill.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Silent History Overwriting: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In Excel/Splitwise, records can be edited or deleted months later without audit proof.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Doctored Receipts: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Images can be photoshopped or swapped after submission.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Circular Debt Inefficiency: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 pays B, B pays C, C pays A. Groups waste fees and time with multi-hop payments.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Device Impersonation: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On a shared living room laptop, anyone can tap "Approve" pretending to be someone else.</a:t>
            </a:r>
          </a:p>
        </p:txBody>
      </p:sp>
      <p:sp>
        <p:nvSpPr>
          <p:cNvPr id="24" name="Right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10B981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25" name="Right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4D399"/>
                </a:solidFill>
                <a:latin typeface="Helvetica Neue"/>
              </a:rPr>
              <a:t>5 High-Impact Real-World Scenarios</a:t>
            </a:r>
          </a:p>
          <a:p>
            <a:pPr algn="l">
              <a:buNone/>
            </a:pPr>
            <a:r>
              <a:rPr lang="en-US" sz="4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1. Apartment Flatmates: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Rent, Wi-Fi, cleaning supplies. No balance updates until quorum verifies the receipt.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2. Group Travel &amp; Trips: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Flights, villas, car rentals. Min-Cash-Flow resolves 20 complex IOUs into 2 final payments.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3. Hackathon &amp; College Teams: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Splitting cloud hosting (AWS/OpenAI APIs) &amp; hardware with transparent admin policies.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4. Freelancer Collectives / DAOs: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Direct atomic mock stablecoin (FSUSD) payouts on Base Sepolia blockchain.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5. Corporate Petty Cash &amp; Clubs: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Non-deletion audit trail prevents embezzlement and satisfies external auditors.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3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1: Multi-Persona Switching &amp; Wallet Bar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Instant persona toggling for local testing + full Web3 MetaMask connectivity</a:t>
            </a:r>
          </a:p>
        </p:txBody>
      </p:sp>
      <p:sp>
        <p:nvSpPr>
          <p:cNvPr id="3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3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8BDF8"/>
                </a:solidFill>
                <a:latin typeface="Helvetica Neue"/>
              </a:rPr>
              <a:t>🖥️ FRONTEND APPEARANCE (Navbar.jsx)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[ BRAND ]  FairShare  |  Apartment 402  ▼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Active Persona Selector Buttons:</a:t>
            </a:r>
          </a:p>
          <a:p>
            <a:pPr algn="l">
              <a:buNone/>
            </a:pPr>
            <a:r>
              <a:rPr lang="en-US" sz="1250" b="1">
                <a:solidFill>
                  <a:srgbClr val="34D399"/>
                </a:solidFill>
                <a:latin typeface="Helvetica Neue"/>
              </a:rPr>
              <a:t> [ Alice (Admin) ★ ]  [ Bob ]  [ Charlie ]  [ Dana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Status Badges &amp; Controls in Header: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• Network:  [ Base Sepolia (84532) 🟢 ]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• Wallet:   [ 0x7099...79C8 🦊 ]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• Stealth:  [ 👁️ Privacy Mask: OFF ]</a:t>
            </a:r>
          </a:p>
          <a:p>
            <a:pPr algn="l">
              <a:buNone/>
            </a:pPr>
            <a:r>
              <a:rPr lang="en-US" sz="1200">
                <a:solidFill>
                  <a:srgbClr val="38BDF8"/>
                </a:solidFill>
                <a:latin typeface="Helvetica Neue"/>
              </a:rPr>
              <a:t> • Sync:     [ 📶 Live LAN WebSocket Connected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Device Banner (Sub-header):</a:t>
            </a:r>
          </a:p>
          <a:p>
            <a:pPr algn="l">
              <a:buNone/>
            </a:pPr>
            <a:r>
              <a:rPr lang="en-US" sz="1150" b="1">
                <a:solidFill>
                  <a:srgbClr val="FDE047"/>
                </a:solidFill>
                <a:latin typeface="Helvetica Neue"/>
              </a:rPr>
              <a:t> "Logged in as Alice (Admin). You have 2 Consensus Blocks requiring your signature."</a:t>
            </a:r>
          </a:p>
        </p:txBody>
      </p:sp>
      <p:sp>
        <p:nvSpPr>
          <p:cNvPr id="3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6366F1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3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A5B4FC"/>
                </a:solidFill>
                <a:latin typeface="Helvetica Neue"/>
              </a:rPr>
              <a:t>How It Works &amp; Technical Flow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Dual Mode Authentication: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Allows switching personas (Alice, Bob, Charlie, Dana) instantly without signing out, OR connecting real MetaMask accounts.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Reactive State Store: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When persona switches, blockchainState.js recalculates that user's personal net balance, pending votes, and permissions immediately.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Network Modal: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Prompts MetaMask to switch chainId to Base Sepolia or Polygon Amoy with fallback RPCs.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Testing &amp; Demos: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Allows a single project presenter or evaluator to demonstrate an entire 4-way multi-signature consensus workflow from one browser without needing 4 separate laptops.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4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2: Dashboard Overview &amp; Integrity Gauge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Real-time financial status, zero-sum solvency check, and expense analytics</a:t>
            </a:r>
          </a:p>
        </p:txBody>
      </p:sp>
      <p:sp>
        <p:nvSpPr>
          <p:cNvPr id="4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4D399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4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4D399"/>
                </a:solidFill>
                <a:latin typeface="Helvetica Neue"/>
              </a:rPr>
              <a:t>🖥️ FRONTEND APPEARANCE (DashboardOverview.jsx)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Top Metric Cards Grid:</a:t>
            </a:r>
          </a:p>
          <a:p>
            <a:pPr algn="l">
              <a:buNone/>
            </a:pPr>
            <a:r>
              <a:rPr lang="en-US" sz="1250" b="1">
                <a:solidFill>
                  <a:srgbClr val="FFFFFF"/>
                </a:solidFill>
                <a:latin typeface="Helvetica Neue"/>
              </a:rPr>
              <a:t> [ Total Volume: ₹14,250 ]   [ My Net: +₹1,250.00 🟢 ]</a:t>
            </a:r>
          </a:p>
          <a:p>
            <a:pPr algn="l">
              <a:buNone/>
            </a:pPr>
            <a:r>
              <a:rPr lang="en-US" sz="1250" b="1">
                <a:solidFill>
                  <a:srgbClr val="38BDF8"/>
                </a:solidFill>
                <a:latin typeface="Helvetica Neue"/>
              </a:rPr>
              <a:t> [ Pending Quorum: 2 ]       [ Active Disputes: 0 🛡️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Mathematical Integrity Badge:</a:t>
            </a:r>
          </a:p>
          <a:p>
            <a:pPr algn="l">
              <a:buNone/>
            </a:pPr>
            <a:r>
              <a:rPr lang="en-US" sz="1200" b="1">
                <a:solidFill>
                  <a:srgbClr val="34D399"/>
                </a:solidFill>
                <a:latin typeface="Helvetica Neue"/>
              </a:rPr>
              <a:t> [ ✔ LEDGER INTEGRITY SOUND: Net Zero-Sum (∑ = ₹0.00)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Category Breakdown Visual Progress: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Groceries:  ₹6,500 (46%) [████████░░░░]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Rent/Bills: ₹5,000 (35%) [██████░░░░░░]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Dining Out: ₹2,750 (19%) [███░░░░░░░░░]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Quick Action Row:</a:t>
            </a:r>
          </a:p>
          <a:p>
            <a:pPr algn="l">
              <a:buNone/>
            </a:pPr>
            <a:r>
              <a:rPr lang="en-US" sz="1200" b="1">
                <a:solidFill>
                  <a:srgbClr val="818CF8"/>
                </a:solidFill>
                <a:latin typeface="Helvetica Neue"/>
              </a:rPr>
              <a:t> [+ Add Expense]  [🔗 Copy Auditor Link]  [👁️ Stealth Mask]</a:t>
            </a:r>
          </a:p>
        </p:txBody>
      </p:sp>
      <p:sp>
        <p:nvSpPr>
          <p:cNvPr id="4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4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8BDF8"/>
                </a:solidFill>
                <a:latin typeface="Helvetica Neue"/>
              </a:rPr>
              <a:t>Mathematical Solvency &amp; Verification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Zero-Sum Check: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Calculates the sum of all members' net balances. In any closed economic system, total credits must equal total debits (∑ balances = 0). If |sum| &gt; 1 cent, the UI flashes an alert.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Stealth Privacy Mask: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Replaces all monetary figures with ₹•••••• at the click of a button, letting users share their screen or work in public cafes safely.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Auditor Read-Only Link: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Generates a scoped URL allowing landlords or accountants to view verified invoices without voting privileges.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Guaranteed Solvency: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Ensures no phantom money or rounding bugs creep into roommates' rent and utility tallies over months of group living.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5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3: Consensus Hub &amp; Verification Blocks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Multi-party verification blocks where participants explicitly cast Agree or Reject votes</a:t>
            </a:r>
          </a:p>
        </p:txBody>
      </p:sp>
      <p:sp>
        <p:nvSpPr>
          <p:cNvPr id="5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F59E0B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5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F59E0B"/>
                </a:solidFill>
                <a:latin typeface="Helvetica Neue"/>
              </a:rPr>
              <a:t>🖥️ FRONTEND APPEARANCE (ConsensusBlock.jsx)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CONSENSUS BLOCK #104  [ Status: PENDING QUORUM ⏳ ]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Title: "March Wi-Fi &amp; Electric Bill"  •  Total: ₹3,200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 Payer: Alice  •  Policy: MAJORITY_VOTE (&gt;50%)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Participant Quorum Status:</a:t>
            </a:r>
          </a:p>
          <a:p>
            <a:pPr algn="l">
              <a:buNone/>
            </a:pPr>
            <a:r>
              <a:rPr lang="en-US" sz="1150">
                <a:solidFill>
                  <a:srgbClr val="34D399"/>
                </a:solidFill>
                <a:latin typeface="Helvetica Neue"/>
              </a:rPr>
              <a:t> • Alice (Payer):   Owes ₹800  [ Auto-Signed ✔ ]</a:t>
            </a:r>
          </a:p>
          <a:p>
            <a:pPr algn="l">
              <a:buNone/>
            </a:pPr>
            <a:r>
              <a:rPr lang="en-US" sz="1150">
                <a:solidFill>
                  <a:srgbClr val="34D399"/>
                </a:solidFill>
                <a:latin typeface="Helvetica Neue"/>
              </a:rPr>
              <a:t> • Bob:             Owes ₹800  [ AGREED ✔ (PIN 2222) ]</a:t>
            </a:r>
          </a:p>
          <a:p>
            <a:pPr algn="l">
              <a:buNone/>
            </a:pPr>
            <a:r>
              <a:rPr lang="en-US" sz="1150">
                <a:solidFill>
                  <a:srgbClr val="FDE047"/>
                </a:solidFill>
                <a:latin typeface="Helvetica Neue"/>
              </a:rPr>
              <a:t> • Charlie:         Owes ₹800  [ ⏳ Awaiting Vote ]</a:t>
            </a:r>
          </a:p>
          <a:p>
            <a:pPr algn="l">
              <a:buNone/>
            </a:pPr>
            <a:r>
              <a:rPr lang="en-US" sz="1150">
                <a:solidFill>
                  <a:srgbClr val="FDE047"/>
                </a:solidFill>
                <a:latin typeface="Helvetica Neue"/>
              </a:rPr>
              <a:t> • Dana:            Owes ₹800  [ ⏳ Awaiting Vote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Quorum Progress: 50% reached (2 of 4)</a:t>
            </a:r>
          </a:p>
          <a:p>
            <a:pPr algn="l">
              <a:buNone/>
            </a:pPr>
            <a:r>
              <a:rPr lang="en-US" sz="1200" b="1">
                <a:solidFill>
                  <a:srgbClr val="38BDF8"/>
                </a:solidFill>
                <a:latin typeface="Helvetica Neue"/>
              </a:rPr>
              <a:t> [████████████░░░░░░░░░░░░] Needs 1 more vote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Action Buttons for Active User:</a:t>
            </a:r>
          </a:p>
          <a:p>
            <a:pPr algn="l">
              <a:buNone/>
            </a:pPr>
            <a:r>
              <a:rPr lang="en-US" sz="1250" b="1">
                <a:solidFill>
                  <a:srgbClr val="F87171"/>
                </a:solidFill>
                <a:latin typeface="Helvetica Neue"/>
              </a:rPr>
              <a:t> [ ✔ AGREE &amp; SIGN (PIN) ]     [ ❌ REJECT &amp; OBJECT ]</a:t>
            </a:r>
          </a:p>
        </p:txBody>
      </p:sp>
      <p:sp>
        <p:nvSpPr>
          <p:cNvPr id="5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F59E0B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5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F59E0B"/>
                </a:solidFill>
                <a:latin typeface="Helvetica Neue"/>
              </a:rPr>
              <a:t>Consensus Mechanics &amp; Execution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Balances Remain Frozen: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Unlike ordinary apps that immediately add debt to everyone's account, FairShare holds the transaction in an escrowed block state.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Threshold Condition: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Under Majority Vote, once Charlie votes "Agree", the contract executes approveExpense(), instantly adjusting everyone's balances simultaneously.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Objection Halt: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If Dana clicks "Reject &amp; Object", she enters a formal reason ("I was out of town all March"). The block enters DISPUTED status, preventing balance changes.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Protection Against Rogue Logging: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Prevents one roommate from logging an exorbitant dinner or personal purchase without all parties consciously vetting and approving their share.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6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4: Anti-Cheat Cryptographic PIN Signature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Simulated ECDSA private key signature preventing impersonation on shared devices</a:t>
            </a:r>
          </a:p>
        </p:txBody>
      </p:sp>
      <p:sp>
        <p:nvSpPr>
          <p:cNvPr id="6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818C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6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818CF8"/>
                </a:solidFill>
                <a:latin typeface="Helvetica Neue"/>
              </a:rPr>
              <a:t>🖥️ FRONTEND APPEARANCE (SignVoteModal.jsx)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50" b="1">
                <a:solidFill>
                  <a:srgbClr val="FFFFFF"/>
                </a:solidFill>
                <a:latin typeface="Helvetica Neue"/>
              </a:rPr>
              <a:t>MODAL: "CRYPTOGRAPHIC PIN VERIFICATION REQUIRED"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Signing as: Charlie  (Wallet: 0x90F7...4bE1)</a:t>
            </a:r>
          </a:p>
          <a:p>
            <a:pPr algn="l">
              <a:buNone/>
            </a:pPr>
            <a:r>
              <a:rPr lang="en-US" sz="1200">
                <a:solidFill>
                  <a:srgbClr val="34D399"/>
                </a:solidFill>
                <a:latin typeface="Helvetica Neue"/>
              </a:rPr>
              <a:t> Action: Confirm Approval of ₹800 Share in Block #104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Enter Your 4-Digit Security PIN:</a:t>
            </a:r>
          </a:p>
          <a:p>
            <a:pPr algn="l">
              <a:buNone/>
            </a:pPr>
            <a:r>
              <a:rPr lang="en-US" sz="2200" b="1">
                <a:solidFill>
                  <a:srgbClr val="38BDF8"/>
                </a:solidFill>
                <a:latin typeface="Helvetica Neue"/>
              </a:rPr>
              <a:t>    [ ● ]   [ ● ]   [ ● ]   [ ● ]</a:t>
            </a:r>
          </a:p>
          <a:p>
            <a:pPr algn="l">
              <a:buNone/>
            </a:pPr>
            <a:r>
              <a:rPr lang="en-US" sz="1100">
                <a:solidFill>
                  <a:srgbClr val="64748B"/>
                </a:solidFill>
                <a:latin typeface="Helvetica Neue"/>
              </a:rPr>
              <a:t>  (Keypad: 1 2 3 / 4 5 6 / 7 8 9 / Clear 0 Enter)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Anti-Cheat Defense Notice: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"This PIN simulates your ECDSA private key signature. Even if another user selects your persona on this device, they cannot cast a vote without your secret PIN."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50" b="1">
                <a:solidFill>
                  <a:srgbClr val="34D399"/>
                </a:solidFill>
                <a:latin typeface="Helvetica Neue"/>
              </a:rPr>
              <a:t> [ ✍️ SIGN &amp; CAST VOTE ]       [ CANCEL ]</a:t>
            </a:r>
          </a:p>
        </p:txBody>
      </p:sp>
      <p:sp>
        <p:nvSpPr>
          <p:cNvPr id="6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818C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6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A5B4FC"/>
                </a:solidFill>
                <a:latin typeface="Helvetica Neue"/>
              </a:rPr>
              <a:t>The Shared Device Problem &amp; Solution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The Real Dilemma: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In college apartments or hostel rooms, friends often share a laptop or leave a tablet on the table. Without security, someone could simply switch to your name and approve their own expense.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ECDSA Private Key Simulation: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Every persona has a secret PIN (Alice: 1111, Bob: 2222, Charlie: 3333, Dana: 4444). authService.js hashes the PIN against stored credentials.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Cryptographic Audit Seal: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Once verified, the vote is logged with voter address, timestamp, and signature state in the immutable audit log.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Zero-Trust Living: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No member can be fraudulently billed or impersonated, guaranteeing that every vote reflects genuine consent.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7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5: Expense Submission &amp; SHA-256 Invoices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Flexible split models (Equal, Exact, %) + client-side document fingerprinting</a:t>
            </a:r>
          </a:p>
        </p:txBody>
      </p:sp>
      <p:sp>
        <p:nvSpPr>
          <p:cNvPr id="7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7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8BDF8"/>
                </a:solidFill>
                <a:latin typeface="Helvetica Neue"/>
              </a:rPr>
              <a:t>🖥️ FRONTEND APPEARANCE (AddExpenseModal.jsx)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50" b="1">
                <a:solidFill>
                  <a:srgbClr val="FFFFFF"/>
                </a:solidFill>
                <a:latin typeface="Helvetica Neue"/>
              </a:rPr>
              <a:t>MODAL: "LOG NEW EXPENSE FOR CONSENSUS"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Expense Title:   [ Team Dinner at Bistro     ]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Total Amount:    [ ₹4,800.00                 ]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Category:        [ 🍔 Food &amp; Dining          ]</a:t>
            </a:r>
          </a:p>
          <a:p>
            <a:pPr algn="l">
              <a:buNone/>
            </a:pPr>
            <a:r>
              <a:rPr lang="en-US" sz="1200" b="1">
                <a:solidFill>
                  <a:srgbClr val="38BDF8"/>
                </a:solidFill>
                <a:latin typeface="Helvetica Neue"/>
              </a:rPr>
              <a:t> Split Type Tabs: [ EQUAL ]  [ EXACT ]  [ PERCENT ]</a:t>
            </a:r>
          </a:p>
          <a:p>
            <a:pPr algn="l">
              <a:buNone/>
            </a:pPr>
            <a:r>
              <a:rPr lang="en-US" sz="1150">
                <a:solidFill>
                  <a:srgbClr val="34D399"/>
                </a:solidFill>
                <a:latin typeface="Helvetica Neue"/>
              </a:rPr>
              <a:t>  -&gt; 4 Members Selected = ₹1,200.00 each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Receipt Dropzone Area:</a:t>
            </a:r>
          </a:p>
          <a:p>
            <a:pPr algn="l">
              <a:buNone/>
            </a:pPr>
            <a:r>
              <a:rPr lang="en-US" sz="1200" b="1">
                <a:solidFill>
                  <a:srgbClr val="818CF8"/>
                </a:solidFill>
                <a:latin typeface="Helvetica Neue"/>
              </a:rPr>
              <a:t> [ 📁 Drag &amp; Drop Receipt PDF or Image here ]</a:t>
            </a:r>
          </a:p>
          <a:p>
            <a:pPr algn="l">
              <a:buNone/>
            </a:pPr>
            <a:r>
              <a:rPr lang="en-US" sz="1150">
                <a:solidFill>
                  <a:srgbClr val="FFFFFF"/>
                </a:solidFill>
                <a:latin typeface="Helvetica Neue"/>
              </a:rPr>
              <a:t> File: "restaurant_invoice.pdf" (1.2 MB)</a:t>
            </a:r>
          </a:p>
          <a:p>
            <a:pPr algn="l">
              <a:buNone/>
            </a:pPr>
            <a:r>
              <a:rPr lang="en-US" sz="1100">
                <a:solidFill>
                  <a:srgbClr val="34D399"/>
                </a:solidFill>
                <a:latin typeface="Helvetica Neue"/>
              </a:rPr>
              <a:t> SHA-256: 0xa48e2f...7c19  [ COMPUTED IN BROWSER ✔ ]</a:t>
            </a:r>
          </a:p>
          <a:p>
            <a:pPr algn="l">
              <a:buNone/>
            </a:pPr>
            <a:r>
              <a:rPr lang="en-US" sz="1100">
                <a:solidFill>
                  <a:srgbClr val="38BDF8"/>
                </a:solidFill>
                <a:latin typeface="Helvetica Neue"/>
              </a:rPr>
              <a:t> IPFS CID: QmZtmD2q...X9w2 [ ANCHORED TO CHAIN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34D399"/>
                </a:solidFill>
                <a:latin typeface="Helvetica Neue"/>
              </a:rPr>
              <a:t> [ 🚀 SUBMIT TO CONSENSUS BLOCK ]</a:t>
            </a:r>
          </a:p>
        </p:txBody>
      </p:sp>
      <p:sp>
        <p:nvSpPr>
          <p:cNvPr id="7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7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8BDF8"/>
                </a:solidFill>
                <a:latin typeface="Helvetica Neue"/>
              </a:rPr>
              <a:t>Client-Side Hashing &amp; Storage Architecture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Web Crypto SHA-256: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The file binary is read as an ArrayBuffer inside the browser. crypto.subtle.digest produces a cryptographic 256-bit hash before any network transmission.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On-Chain Fingerprint: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Only the 32-byte hash and IPFS CID are committed to the blockchain, saving massive gas fees while achieving 100% tamper-evidence.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Flexible Split Models: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Supports Equal splits, Exact rupee amounts per person, or Percentage-based distributions, with automated sum validation.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Falsified Invoices Impossible: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If a user edits even one digit on the PDF receipt later, the SHA-256 hash completely changes, catching doctored bills instantly.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8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6: Receipt Verifier &amp; Integrity Workbench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Zero-trust file drop verifier proving invoice authenticity against on-chain block hash</a:t>
            </a:r>
          </a:p>
        </p:txBody>
      </p:sp>
      <p:sp>
        <p:nvSpPr>
          <p:cNvPr id="8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10B981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8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10B981"/>
                </a:solidFill>
                <a:latin typeface="Helvetica Neue"/>
              </a:rPr>
              <a:t>🖥️ FRONTEND APPEARANCE (ReceiptVerifier.jsx)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INVOICE INTEGRITY VERIFIER TAB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Select Expense to Audit: [ #104: Wi-Fi &amp; Electric Bill ▼ ]</a:t>
            </a:r>
          </a:p>
          <a:p>
            <a:pPr algn="l">
              <a:buNone/>
            </a:pPr>
            <a:r>
              <a:rPr lang="en-US" sz="1150">
                <a:solidFill>
                  <a:srgbClr val="94A3B8"/>
                </a:solidFill>
                <a:latin typeface="Helvetica Neue"/>
              </a:rPr>
              <a:t> Expected On-Chain Hash: 0xa48e2f...7c19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Drag &amp; Drop Auditor Box:</a:t>
            </a:r>
          </a:p>
          <a:p>
            <a:pPr algn="l">
              <a:buNone/>
            </a:pPr>
            <a:r>
              <a:rPr lang="en-US" sz="1300" b="1">
                <a:solidFill>
                  <a:srgbClr val="38BDF8"/>
                </a:solidFill>
                <a:latin typeface="Helvetica Neue"/>
              </a:rPr>
              <a:t> [ 🔍 DROP INVOICE TO PROVE NO TAMPERING ]</a:t>
            </a:r>
          </a:p>
          <a:p>
            <a:pPr algn="l">
              <a:buNone/>
            </a:pPr>
            <a:r>
              <a:rPr lang="en-US" sz="1150">
                <a:solidFill>
                  <a:srgbClr val="FFFFFF"/>
                </a:solidFill>
                <a:latin typeface="Helvetica Neue"/>
              </a:rPr>
              <a:t> File Loaded: "electric_march_final.pdf"</a:t>
            </a:r>
          </a:p>
          <a:p>
            <a:pPr algn="l">
              <a:buNone/>
            </a:pPr>
            <a:r>
              <a:rPr lang="en-US" sz="1150">
                <a:solidFill>
                  <a:srgbClr val="34D399"/>
                </a:solidFill>
                <a:latin typeface="Helvetica Neue"/>
              </a:rPr>
              <a:t> Calculated Local Digest: 0xa48e2f...7c19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Verification Banner (Live Status):</a:t>
            </a:r>
          </a:p>
          <a:p>
            <a:pPr algn="l">
              <a:buNone/>
            </a:pPr>
            <a:r>
              <a:rPr lang="en-US" sz="1300" b="1">
                <a:solidFill>
                  <a:srgbClr val="34D399"/>
                </a:solidFill>
                <a:latin typeface="Helvetica Neue"/>
              </a:rPr>
              <a:t> [ ✅ 100% CRYPTOGRAPHIC MATCH CONFIRMED ]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"This document matches the exact bytes signed by Alice and approved by the group on chain at Block #104."</a:t>
            </a:r>
          </a:p>
        </p:txBody>
      </p:sp>
      <p:sp>
        <p:nvSpPr>
          <p:cNvPr id="8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10B981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8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4D399"/>
                </a:solidFill>
                <a:latin typeface="Helvetica Neue"/>
              </a:rPr>
              <a:t>Zero-Trust Auditability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Independent Proof: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Any participant or auditor can verify a receipt without contacting the original uploader or relying on a centralized server.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Bitwise Precision: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If an invoice has its total edited from ₹2,000 to ₹3,000 in Photoshop, the local SHA-256 hash immediately differs. The UI turns bright red: [ ❌ HASH MISMATCH: TAMPER DETECTED ].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Audit Export: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Produces a verifiable audit certificate that can be shared with landlords, treasurers, or club advisers.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Club &amp; Event Treasuries: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College cultural clubs and student bodies can prove to university auditors that every sponsor reimbursement exactly matches approved invoices.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9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7: Min-Cash-Flow Settlement Hub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Graph-theoretic debt simplification algorithm + atomic crypto &amp; off-chain UPI settlements</a:t>
            </a:r>
          </a:p>
        </p:txBody>
      </p:sp>
      <p:sp>
        <p:nvSpPr>
          <p:cNvPr id="9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9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8BDF8"/>
                </a:solidFill>
                <a:latin typeface="Helvetica Neue"/>
              </a:rPr>
              <a:t>🖥️ FRONTEND APPEARANCE (SettlementHub.jsx)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50" b="1">
                <a:solidFill>
                  <a:srgbClr val="FFFFFF"/>
                </a:solidFill>
                <a:latin typeface="Helvetica Neue"/>
              </a:rPr>
              <a:t>MIN-CASH-FLOW OPTIMIZED DIRECT SETTLEMENT PLAN</a:t>
            </a:r>
          </a:p>
          <a:p>
            <a:pPr algn="l">
              <a:buNone/>
            </a:pPr>
            <a:r>
              <a:rPr lang="en-US" sz="1200">
                <a:solidFill>
                  <a:srgbClr val="34D399"/>
                </a:solidFill>
                <a:latin typeface="Helvetica Neue"/>
              </a:rPr>
              <a:t> Condensed 8 circular group debts into 2 direct payments: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Card 1: Bob -&gt; Alice</a:t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 Bob owes Alice  ₹1,200.00</a:t>
            </a:r>
          </a:p>
          <a:p>
            <a:pPr algn="l">
              <a:buNone/>
            </a:pPr>
            <a:r>
              <a:rPr lang="en-US" sz="1150" b="1">
                <a:solidFill>
                  <a:srgbClr val="38BDF8"/>
                </a:solidFill>
                <a:latin typeface="Helvetica Neue"/>
              </a:rPr>
              <a:t> [ ⚡ Pay with FSUSD (Crypto) ]  [ 📱 Pay UPI / Cash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Card 2: Charlie -&gt; Dana</a:t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 Charlie owes Dana  ₹650.00</a:t>
            </a:r>
          </a:p>
          <a:p>
            <a:pPr algn="l">
              <a:buNone/>
            </a:pPr>
            <a:r>
              <a:rPr lang="en-US" sz="1150" b="1">
                <a:solidFill>
                  <a:srgbClr val="38BDF8"/>
                </a:solidFill>
                <a:latin typeface="Helvetica Neue"/>
              </a:rPr>
              <a:t> [ ⚡ Pay with FSUSD (Crypto) ]  [ 📱 Pay UPI / Cash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Settlement History Table: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• 10/17: Bob paid Alice ₹1,200 (Tx: 0x3d9...71b) [CONFIRMED ✔]</a:t>
            </a:r>
          </a:p>
          <a:p>
            <a:pPr algn="l">
              <a:buNone/>
            </a:pPr>
            <a:r>
              <a:rPr lang="en-US" sz="1050">
                <a:solidFill>
                  <a:srgbClr val="FDE047"/>
                </a:solidFill>
                <a:latin typeface="Helvetica Neue"/>
              </a:rPr>
              <a:t>   (Canvas Confetti Celebration triggers on settlement!)</a:t>
            </a:r>
          </a:p>
        </p:txBody>
      </p:sp>
      <p:sp>
        <p:nvSpPr>
          <p:cNvPr id="9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9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8BDF8"/>
                </a:solidFill>
                <a:latin typeface="Helvetica Neue"/>
              </a:rPr>
              <a:t>Graph Theory &amp; Multi-Mode Settlement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Min-Cash-Flow Algorithm: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Solves the classic N-party debt graph. Computes net balances for each person, then greedily pairs the max debtor with the max creditor until all debts reach zero.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Dual Settlement Modes: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  1. Atomic On-Chain Crypto: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Transfers mock stablecoin (FSUSD) directly on Base Sepolia. Balances auto-settle upon transaction receipt.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  2. Off-Chain UPI / Cash: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Payer enters UPI Tx ID; payee clicks "Confirm Received" to balance ledger.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Group Vacation Settlements: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After a 7-day trip where 5 friends made 30 separate purchases, members settle the whole trip in just 2 or 3 direct payments.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0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8: Immutable Audit Trail &amp; Non-Deletion Diffs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Permanent ledger lineage preserving original entries while anchoring versioned revisions</a:t>
            </a:r>
          </a:p>
        </p:txBody>
      </p:sp>
      <p:sp>
        <p:nvSpPr>
          <p:cNvPr id="10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C084FC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0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C084FC"/>
                </a:solidFill>
                <a:latin typeface="Helvetica Neue"/>
              </a:rPr>
              <a:t>🖥️ FRONTEND APPEARANCE (AuditTrail.jsx)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IMMUTABLE AUDIT TIMELINE FEED</a:t>
            </a:r>
          </a:p>
          <a:p>
            <a:pPr algn="l">
              <a:buNone/>
            </a:pPr>
            <a:r>
              <a:rPr lang="en-US" sz="1150">
                <a:solidFill>
                  <a:srgbClr val="94A3B8"/>
                </a:solidFill>
                <a:latin typeface="Helvetica Neue"/>
              </a:rPr>
              <a:t> Filter: [ ALL EVENTS ]  [ EXPENSES ]  [ VOTES ]  [ REVISIONS ]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 b="1">
                <a:solidFill>
                  <a:srgbClr val="F59E0B"/>
                </a:solidFill>
                <a:latin typeface="Helvetica Neue"/>
              </a:rPr>
              <a:t>Timeline Item #1: EXPENSE CORRECTION ANCHOR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Block #102 revised to Block #105 by Alice (Admin)</a:t>
            </a:r>
          </a:p>
          <a:p>
            <a:pPr algn="l">
              <a:buNone/>
            </a:pPr>
            <a:r>
              <a:rPr lang="en-US" sz="1150">
                <a:solidFill>
                  <a:srgbClr val="94A3B8"/>
                </a:solidFill>
                <a:latin typeface="Helvetica Neue"/>
              </a:rPr>
              <a:t> Revision Diff Viewer:</a:t>
            </a:r>
          </a:p>
          <a:p>
            <a:pPr algn="l">
              <a:buNone/>
            </a:pPr>
            <a:r>
              <a:rPr lang="en-US" sz="1100">
                <a:solidFill>
                  <a:srgbClr val="F87171"/>
                </a:solidFill>
                <a:latin typeface="Helvetica Neue"/>
              </a:rPr>
              <a:t>  - Old Total: ₹3,000.00 (Split: Alice, Bob, Charlie)</a:t>
            </a:r>
          </a:p>
          <a:p>
            <a:pPr algn="l">
              <a:buNone/>
            </a:pPr>
            <a:r>
              <a:rPr lang="en-US" sz="1100">
                <a:solidFill>
                  <a:srgbClr val="34D399"/>
                </a:solidFill>
                <a:latin typeface="Helvetica Neue"/>
              </a:rPr>
              <a:t>  + New Total: ₹3,500.00 (Split: Alice, Bob, Charlie, Dana)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 Reason: "Dana joined late; included in electricity share."</a:t>
            </a:r>
          </a:p>
          <a:p>
            <a:pPr algn="l">
              <a:buNone/>
            </a:pPr>
            <a:r>
              <a:rPr lang="en-US" sz="1100">
                <a:solidFill>
                  <a:srgbClr val="38BDF8"/>
                </a:solidFill>
                <a:latin typeface="Helvetica Neue"/>
              </a:rPr>
              <a:t> Ancestor Link: Links immutably to Block #102 (Never Deleted)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 b="1">
                <a:solidFill>
                  <a:srgbClr val="34D399"/>
                </a:solidFill>
                <a:latin typeface="Helvetica Neue"/>
              </a:rPr>
              <a:t>Timeline Item #2: SETTLEMENT ACKNOWLEDGMENT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Bob -&gt; Alice: ₹1,200 FSUSD Transferred. Tx: 0x9f...4a</a:t>
            </a:r>
          </a:p>
        </p:txBody>
      </p:sp>
      <p:sp>
        <p:nvSpPr>
          <p:cNvPr id="10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C084FC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0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C084FC"/>
                </a:solidFill>
                <a:latin typeface="Helvetica Neue"/>
              </a:rPr>
              <a:t>The Non-Deletion Accounting Principle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Why No Delete Button?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In traditional apps, deleting an expense erases history and makes financial auditing impossible. In FairShare, records can only be corrected, never deleted.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Parent-Child Delta Chains: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When an expense is revised, correctExpense() flags the original record as CORRECTED and links it to the newly minted block containing the updated shares.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Mandatory Quorum on Revisions: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The corrected block must be re-voted on by group members before balances re-adjust, preventing unilateral edits.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Dispute Proof: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When lease terms end, roommates have an indisputable, tamper-proof audit trail of every rent, maintenance, and utility change over the whole year.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1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9: Multi-Device LAN Real-Time Sync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Instant state replication across phones &amp; laptops over local Wi-Fi with QR code scanning</a:t>
            </a:r>
          </a:p>
        </p:txBody>
      </p:sp>
      <p:sp>
        <p:nvSpPr>
          <p:cNvPr id="11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4D399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1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4D399"/>
                </a:solidFill>
                <a:latin typeface="Helvetica Neue"/>
              </a:rPr>
              <a:t>🖥️ FRONTEND APPEARANCE (ConnectDevicesModal.jsx)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50" b="1">
                <a:solidFill>
                  <a:srgbClr val="FFFFFF"/>
                </a:solidFill>
                <a:latin typeface="Helvetica Neue"/>
              </a:rPr>
              <a:t>CONNECT OTHER PHONES / LAPTOPS ON YOUR WI-FI</a:t>
            </a:r>
          </a:p>
          <a:p>
            <a:pPr algn="l">
              <a:buNone/>
            </a:pPr>
            <a:r>
              <a:rPr lang="en-US" sz="1200" b="1">
                <a:solidFill>
                  <a:srgbClr val="34D399"/>
                </a:solidFill>
                <a:latin typeface="Helvetica Neue"/>
              </a:rPr>
              <a:t> Auto-Detected LAN IP: http://192.168.1.42:5173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QR Code Display Box:</a:t>
            </a:r>
          </a:p>
          <a:p>
            <a:pPr algn="l">
              <a:buNone/>
            </a:pPr>
            <a:r>
              <a:rPr lang="en-US" sz="1000">
                <a:solidFill>
                  <a:srgbClr val="FFFFFF"/>
                </a:solidFill>
                <a:latin typeface="Helvetica Neue"/>
              </a:rPr>
              <a:t>  [ ■■■■■■■■■■■■■■■■■■■■■■■■■■■■■■■■■■■■■■■■ ]</a:t>
            </a:r>
          </a:p>
          <a:p>
            <a:pPr algn="l">
              <a:buNone/>
            </a:pPr>
            <a:r>
              <a:rPr lang="en-US" sz="1100" b="1">
                <a:solidFill>
                  <a:srgbClr val="38BDF8"/>
                </a:solidFill>
                <a:latin typeface="Helvetica Neue"/>
              </a:rPr>
              <a:t>  [ ■  SCAN WITH YOUR PHONE CAMERA TO SYNC  ■ ]</a:t>
            </a:r>
          </a:p>
          <a:p>
            <a:pPr algn="l">
              <a:buNone/>
            </a:pPr>
            <a:r>
              <a:rPr lang="en-US" sz="1000">
                <a:solidFill>
                  <a:srgbClr val="FFFFFF"/>
                </a:solidFill>
                <a:latin typeface="Helvetica Neue"/>
              </a:rPr>
              <a:t>  [ ■■■■■■■■■■■■■■■■■■■■■■■■■■■■■■■■■■■■■■■■ ]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Live Sync Status Indicators: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Active Connected Clients: 3 (Laptop, iPhone, Android)</a:t>
            </a:r>
          </a:p>
          <a:p>
            <a:pPr algn="l">
              <a:buNone/>
            </a:pPr>
            <a:r>
              <a:rPr lang="en-US" sz="1150">
                <a:solidFill>
                  <a:srgbClr val="34D399"/>
                </a:solidFill>
                <a:latin typeface="Helvetica Neue"/>
              </a:rPr>
              <a:t> • WebSocket Latency: 4ms [ 🟢 ULTRA-FAST LAN ]</a:t>
            </a:r>
          </a:p>
          <a:p>
            <a:pPr algn="l">
              <a:buNone/>
            </a:pPr>
            <a:r>
              <a:rPr lang="en-US" sz="1150">
                <a:solidFill>
                  <a:srgbClr val="38BDF8"/>
                </a:solidFill>
                <a:latin typeface="Helvetica Neue"/>
              </a:rPr>
              <a:t> • Disk Persistence: fairshare_ledger_db.json [ CACHED ✔ ]</a:t>
            </a:r>
          </a:p>
        </p:txBody>
      </p:sp>
      <p:sp>
        <p:nvSpPr>
          <p:cNvPr id="11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4D399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1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4D399"/>
                </a:solidFill>
                <a:latin typeface="Helvetica Neue"/>
              </a:rPr>
              <a:t>Zero-Setup Local Network Relay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Auto LAN IP Detection: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server.js queries network interfaces to find the machine's Wi-Fi IPv4 address (e.g. 192.168.x.x) and renders a dynamic QR code.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Live WebSocket Mesh: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When Alice logs an expense on her laptop, the WebSocket broadcast (/fairshare-sync) updates Bob's phone screen in less than 10 milliseconds.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Resilient State Replay: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If a phone loses Wi-Fi connection and reconnects, server.js immediately replays the latest ledger state from disk.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600" b="1">
                <a:solidFill>
                  <a:srgbClr val="34D399"/>
                </a:solidFill>
                <a:latin typeface="Helvetica Neue"/>
              </a:rPr>
              <a:t>🌍 Real-World Use Case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Living Room Collaboration: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Roommates sitting on the couch can simultaneously vote, inspect invoices, and trigger settlements on their own personal phones in real time.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21" name="Header"/>
          <p:cNvSpPr/>
          <p:nvPr/>
        </p:nvSpPr>
        <p:spPr>
          <a:xfrm>
            <a:off x="731520" y="500000"/>
            <a:ext cx="10728960" cy="8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Helvetica Neue"/>
              </a:rPr>
              <a:t>Feature 10: Group Governance &amp; Executive Summary</a:t>
            </a:r>
          </a:p>
          <a:p>
            <a:pPr algn="l">
              <a:buNone/>
            </a:pPr>
            <a:r>
              <a:rPr lang="en-US" sz="1400">
                <a:solidFill>
                  <a:srgbClr val="94A3B8"/>
                </a:solidFill>
                <a:latin typeface="Helvetica Neue"/>
              </a:rPr>
              <a:t>Configurable smart contract consensus policies and overall project recap</a:t>
            </a:r>
          </a:p>
        </p:txBody>
      </p:sp>
      <p:sp>
        <p:nvSpPr>
          <p:cNvPr id="122" name="UIMock"/>
          <p:cNvSpPr/>
          <p:nvPr/>
        </p:nvSpPr>
        <p:spPr>
          <a:xfrm>
            <a:off x="731520" y="1450000"/>
            <a:ext cx="5100000" cy="4900000"/>
          </a:xfrm>
          <a:prstGeom prst="roundRect">
            <a:avLst/>
          </a:prstGeom>
          <a:solidFill>
            <a:srgbClr val="0F172A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23" name="UIMockContent"/>
          <p:cNvSpPr/>
          <p:nvPr/>
        </p:nvSpPr>
        <p:spPr>
          <a:xfrm>
            <a:off x="93152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500" b="1">
                <a:solidFill>
                  <a:srgbClr val="38BDF8"/>
                </a:solidFill>
                <a:latin typeface="Helvetica Neue"/>
              </a:rPr>
              <a:t>🖥️ FRONTEND APPEARANCE (GroupManagement.jsx)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Helvetica Neue"/>
              </a:rPr>
              <a:t>GROUP GOVERNANCE &amp; CONSENSUS SETTINGS</a:t>
            </a:r>
          </a:p>
          <a:p>
            <a:pPr algn="l">
              <a:buNone/>
            </a:pPr>
            <a:r>
              <a:rPr lang="en-US" sz="1200">
                <a:solidFill>
                  <a:srgbClr val="CBD5E1"/>
                </a:solidFill>
                <a:latin typeface="Helvetica Neue"/>
              </a:rPr>
              <a:t> Active Group: "Apartment 402"  (Members: 4)</a:t>
            </a:r>
          </a:p>
          <a:p>
            <a:pPr algn="l">
              <a:buNone/>
            </a:pPr>
            <a:r>
              <a:rPr lang="en-US" sz="1000">
                <a:solidFill>
                  <a:srgbClr val="475569"/>
                </a:solidFill>
                <a:latin typeface="Helvetica Neue"/>
              </a:rPr>
              <a:t>---------------------------------------------------------</a:t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Consensus Approval Policy Selector: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( ) AUTO_APPROVE    (Optimistic with dispute window)</a:t>
            </a:r>
          </a:p>
          <a:p>
            <a:pPr algn="l">
              <a:buNone/>
            </a:pPr>
            <a:r>
              <a:rPr lang="en-US" sz="1150" b="1">
                <a:solidFill>
                  <a:srgbClr val="34D399"/>
                </a:solidFill>
                <a:latin typeface="Helvetica Neue"/>
              </a:rPr>
              <a:t> (●) MAJORITY_VOTE   (&gt;50% agreement required) [ACTIVE]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( ) UNANIMOUS_VOTE  (100% agreement required)</a:t>
            </a:r>
          </a:p>
          <a:p>
            <a:pPr algn="l">
              <a:buNone/>
            </a:pPr>
            <a:r>
              <a:rPr lang="en-US" sz="1100">
                <a:solidFill>
                  <a:srgbClr val="CBD5E1"/>
                </a:solidFill>
                <a:latin typeface="Helvetica Neue"/>
              </a:rPr>
              <a:t> ( ) ADMIN_ONLY      (Only Alice can approve)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>
              <a:buNone/>
            </a:pPr>
            <a:r>
              <a:rPr lang="en-US" sz="1200">
                <a:solidFill>
                  <a:srgbClr val="94A3B8"/>
                </a:solidFill>
                <a:latin typeface="Helvetica Neue"/>
              </a:rPr>
              <a:t>Member Roster &amp; Roles Table:</a:t>
            </a:r>
          </a:p>
          <a:p>
            <a:pPr algn="l">
              <a:buNone/>
            </a:pPr>
            <a:r>
              <a:rPr lang="en-US" sz="1150">
                <a:solidFill>
                  <a:srgbClr val="F59E0B"/>
                </a:solidFill>
                <a:latin typeface="Helvetica Neue"/>
              </a:rPr>
              <a:t> • Alice:   0x7099...79C8  [ ROLE: ADMIN 👑 ]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Bob:     0x3C44...9bC3  [ ROLE: MEMBER 👤 ]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Charlie: 0x90F7...4bE1  [ ROLE: MEMBER 👤 ]</a:t>
            </a:r>
          </a:p>
          <a:p>
            <a:pPr algn="l">
              <a:buNone/>
            </a:pPr>
            <a:r>
              <a:rPr lang="en-US" sz="1150">
                <a:solidFill>
                  <a:srgbClr val="CBD5E1"/>
                </a:solidFill>
                <a:latin typeface="Helvetica Neue"/>
              </a:rPr>
              <a:t> • Dana:    0x15d3...F5bC  [ ROLE: MEMBER 👤 ]</a:t>
            </a:r>
          </a:p>
        </p:txBody>
      </p:sp>
      <p:sp>
        <p:nvSpPr>
          <p:cNvPr id="124" name="ExplCard"/>
          <p:cNvSpPr/>
          <p:nvPr/>
        </p:nvSpPr>
        <p:spPr>
          <a:xfrm>
            <a:off x="6360000" y="1450000"/>
            <a:ext cx="5100000" cy="4900000"/>
          </a:xfrm>
          <a:prstGeom prst="roundRect">
            <a:avLst/>
          </a:prstGeom>
          <a:solidFill>
            <a:srgbClr val="111827"/>
          </a:solidFill>
          <a:ln w="15000">
            <a:solidFill>
              <a:srgbClr val="38BDF8"/>
            </a:solidFill>
          </a:ln>
        </p:spPr>
        <p:txBody>
          <a:bodyPr vert="horz" lIns="144000" tIns="108000" rIns="144000" bIns="108000" rtlCol="0" anchor="t"/>
          <a:lstStyle/>
          <a:p>
            <a:endParaRPr lang="en-US"/>
          </a:p>
        </p:txBody>
      </p:sp>
      <p:sp>
        <p:nvSpPr>
          <p:cNvPr id="125" name="ExplText"/>
          <p:cNvSpPr/>
          <p:nvPr/>
        </p:nvSpPr>
        <p:spPr>
          <a:xfrm>
            <a:off x="6560000" y="1600000"/>
            <a:ext cx="4700000" cy="4600000"/>
          </a:xfrm>
          <a:prstGeom prst="rect">
            <a:avLst/>
          </a:prstGeom>
          <a:noFill/>
          <a:ln>
            <a:noFill/>
          </a:ln>
        </p:spPr>
        <p:txBody>
          <a:bodyPr vert="horz" lIns="144000" tIns="108000" rIns="144000" bIns="108000" rtlCol="0" anchor="t"/>
          <a:lstStyle/>
          <a:p>
            <a:pPr algn="l">
              <a:buNone/>
            </a:pPr>
            <a:r>
              <a:rPr lang="en-US" sz="1700" b="1">
                <a:solidFill>
                  <a:srgbClr val="38BDF8"/>
                </a:solidFill>
                <a:latin typeface="Helvetica Neue"/>
              </a:rPr>
              <a:t>FairShare: Complete Value Summary</a:t>
            </a:r>
          </a:p>
          <a:p>
            <a:pPr algn="l">
              <a:buNone/>
            </a:pPr>
            <a:r>
              <a:rPr lang="en-US" sz="3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Zero Discrepancies: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Every calculation is verified on-chain; math errors and subjective spreadsheet disagreements are permanently eradicated.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Cryptographic Integrity: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SHA-256 invoices and PIN signatures simulate real-world cryptographic defense against fraud and doctored receipts.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Algorithmic Optimization: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Min-Cash-Flow condenses circular group debts into minimal direct settlements.</a:t>
            </a:r>
          </a:p>
          <a:p>
            <a:pPr algn="l" marL="288000" indent="-288000">
              <a:buChar char="•"/>
              <a:buSzPts val="1200"/>
            </a:pPr>
            <a:r>
              <a:rPr lang="en-US" sz="1400" b="1">
                <a:solidFill>
                  <a:srgbClr val="FFFFFF"/>
                </a:solidFill>
                <a:latin typeface="Helvetica Neue"/>
              </a:rPr>
              <a:t>Production-Ready Architecture: </a:t>
            </a:r>
            <a:r>
              <a:rPr lang="en-US" sz="1400">
                <a:solidFill>
                  <a:srgbClr val="CBD5E1"/>
                </a:solidFill>
                <a:latin typeface="Helvetica Neue"/>
              </a:rPr>
              <a:t>Solidity ^0.8.20 + React 19 + Vite 8 + WebSocket mesh + Base Sepolia deployment.</a:t>
            </a:r>
          </a:p>
          <a:p>
            <a:pPr algn="l">
              <a:buNone/>
            </a:pPr>
            <a:r>
              <a:rPr lang="en-US" sz="40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ctr">
              <a:buNone/>
            </a:pPr>
            <a:r>
              <a:rPr lang="en-US" sz="1250" b="1">
                <a:solidFill>
                  <a:srgbClr val="34D399"/>
                </a:solidFill>
                <a:latin typeface="Helvetica Neue"/>
              </a:rPr>
              <a:t>🎉 FairShare: True Transparency for Shared Living &amp; Team Expenses</a:t>
            </a:r>
          </a:p>
        </p:txBody>
      </p:sp>
    </p:spTree>
  </p:cSld>
</p:sld>
</file>

<file path=ppt/theme/theme1.xml><?xml version="1.0" encoding="utf-8"?>
<a:theme xmlns:a="http://schemas.openxmlformats.org/drawingml/2006/main" name="Dark Slate Theme">
  <a:themeElements>
    <a:clrScheme name="DarkSlate">
      <a:dk1>
        <a:srgbClr val="0B0F19"/>
      </a:dk1>
      <a:lt1>
        <a:srgbClr val="FFFFFF"/>
      </a:lt1>
      <a:dk2>
        <a:srgbClr val="1E293B"/>
      </a:dk2>
      <a:lt2>
        <a:srgbClr val="F8FAFC"/>
      </a:lt2>
      <a:accent1>
        <a:srgbClr val="38BDF8"/>
      </a:accent1>
      <a:accent2>
        <a:srgbClr val="818CF8"/>
      </a:accent2>
      <a:accent3>
        <a:srgbClr val="34D399"/>
      </a:accent3>
      <a:accent4>
        <a:srgbClr val="F59E0B"/>
      </a:accent4>
      <a:accent5>
        <a:srgbClr val="EC4899"/>
      </a:accent5>
      <a:accent6>
        <a:srgbClr val="64748B"/>
      </a:accent6>
      <a:hlink>
        <a:srgbClr val="38BDF8"/>
      </a:hlink>
      <a:folHlink>
        <a:srgbClr val="818CF8"/>
      </a:folHlink>
    </a:clrScheme>
    <a:fontScheme name="ModernFont">
      <a:majorFont>
        <a:latin typeface="Helvetica Neue"/>
      </a:majorFont>
      <a:minorFont>
        <a:latin typeface="Helvetica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Lst/>
      </a:effectStyleLst>
      <a:bgFillStyleLst>
        <a:solidFill>
          <a:schemeClr val="phClr"/>
        </a:solidFill>
      </a:bgFillStyleLst>
    </a:fmtScheme>
  </a:themeElements>
</a:theme>
</file>